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91C5-FDD3-61FF-7C71-525F7E14EACB}" v="883" dt="2026-04-20T07:35:57.451"/>
    <p1510:client id="{38B8A4B7-A1F1-4388-A0DE-105C9A2A4BFF}" v="442" dt="2026-04-20T07:47:10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i-FI"/>
              <a:t>Muokkaa alaotsikon perustyyliä napsautt.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12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5088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66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52209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1772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1267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215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00723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Lisää kuva napsauttamalla kuvaketta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849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6002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58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02ABAE3-D89C-4001-9AEC-5083F82B749C}" type="datetimeFigureOut">
              <a:rPr lang="fi-FI" smtClean="0"/>
              <a:t>20.4.2026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51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4713224" y="110535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lang="fi-FI" sz="4800">
                <a:solidFill>
                  <a:srgbClr val="FFFFFF"/>
                </a:solidFill>
              </a:rPr>
              <a:t>Pankkiautomaatti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4713224" y="4297556"/>
            <a:ext cx="6353968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>
                <a:solidFill>
                  <a:srgbClr val="FFFFFF"/>
                </a:solidFill>
              </a:rPr>
              <a:t>SPO-15</a:t>
            </a:r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8B0D472A-5DB4-4F31-67EC-C8C7A3AB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fi-FI">
                <a:solidFill>
                  <a:srgbClr val="FFFFFF"/>
                </a:solidFill>
                <a:ea typeface="+mj-lt"/>
                <a:cs typeface="+mj-lt"/>
              </a:rPr>
              <a:t>Projektin tavoitteet</a:t>
            </a:r>
            <a:endParaRPr lang="fi-FI">
              <a:solidFill>
                <a:srgbClr val="FFFFFF"/>
              </a:solidFill>
            </a:endParaRPr>
          </a:p>
          <a:p>
            <a:pPr algn="r"/>
            <a:endParaRPr lang="fi-FI">
              <a:solidFill>
                <a:srgbClr val="FFFFFF"/>
              </a:solidFill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D9090F5-CFB4-DB2F-8C63-D3D97AD5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fi-FI"/>
              <a:t>Tunnistaa ja ymmärtää ohjelmistokehityksen vaihejakomallin perusvaiheet</a:t>
            </a:r>
          </a:p>
          <a:p>
            <a:r>
              <a:rPr lang="fi-FI"/>
              <a:t>Ymmärtää ryhmätyöskentelyn merkityksen ohjelmistokehitystyössä</a:t>
            </a:r>
          </a:p>
          <a:p>
            <a:r>
              <a:rPr lang="fi-FI"/>
              <a:t>Osaa käyttää oliopohjaista mallinnuskieltä kehitystyön (UML) eri vaiheissa ja osaa kirjoittaa kaavioiden pohjalta ohjelmakoodia</a:t>
            </a:r>
          </a:p>
          <a:p>
            <a:r>
              <a:rPr lang="fi-FI"/>
              <a:t>Opiskelija osaa suunnitella ja toteuttaa luokkakirjastoon perustuvan oliopohjaisen sovelluksen ja sen tietokanta-arkkitehtuurin</a:t>
            </a:r>
          </a:p>
          <a:p>
            <a:r>
              <a:rPr lang="fi-FI"/>
              <a:t>Osaa laatia ohjelmistoprojektin dokumentaation ja pystyy viestimään suullisesti ja kirjallisesti, myös englanniksi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62367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2">
            <a:extLst>
              <a:ext uri="{FF2B5EF4-FFF2-40B4-BE49-F238E27FC236}">
                <a16:creationId xmlns:a16="http://schemas.microsoft.com/office/drawing/2014/main" id="{59EC11B9-C1B4-4A4B-AE7B-353DC742A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D8441F3E-8D97-00D2-316F-71AB61560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Tiivistelmä arvosanoille -taulukko</a:t>
            </a:r>
          </a:p>
          <a:p>
            <a:endParaRPr lang="en-US" sz="3500">
              <a:solidFill>
                <a:srgbClr val="FFFFFF"/>
              </a:solidFill>
            </a:endParaRPr>
          </a:p>
        </p:txBody>
      </p:sp>
      <p:cxnSp>
        <p:nvCxnSpPr>
          <p:cNvPr id="37" name="Straight Connector 14">
            <a:extLst>
              <a:ext uri="{FF2B5EF4-FFF2-40B4-BE49-F238E27FC236}">
                <a16:creationId xmlns:a16="http://schemas.microsoft.com/office/drawing/2014/main" id="{24862CF4-4997-476D-9B9D-5F4E0C9A4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iruutu 7">
            <a:extLst>
              <a:ext uri="{FF2B5EF4-FFF2-40B4-BE49-F238E27FC236}">
                <a16:creationId xmlns:a16="http://schemas.microsoft.com/office/drawing/2014/main" id="{F15AA0C8-EF46-14D2-23F3-6599709B92DE}"/>
              </a:ext>
            </a:extLst>
          </p:cNvPr>
          <p:cNvSpPr txBox="1"/>
          <p:nvPr/>
        </p:nvSpPr>
        <p:spPr>
          <a:xfrm>
            <a:off x="1024129" y="2286000"/>
            <a:ext cx="3791711" cy="3931920"/>
          </a:xfrm>
          <a:prstGeom prst="rect">
            <a:avLst/>
          </a:prstGeom>
        </p:spPr>
        <p:txBody>
          <a:bodyPr rot="0" spcFirstLastPara="0" vertOverflow="overflow" horzOverflow="overflow" vert="horz" lIns="45720" tIns="45720" rIns="4572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>
                <a:solidFill>
                  <a:srgbClr val="FFFFFF"/>
                </a:solidFill>
              </a:rPr>
              <a:t>Meidän tavoitteena oli saada projektista arvosana 4. Lisäominaisuutta ja kaksoiskorttia meillä ei ole, mutta kaikki muu löytyy. </a:t>
            </a:r>
          </a:p>
        </p:txBody>
      </p:sp>
      <p:pic>
        <p:nvPicPr>
          <p:cNvPr id="4" name="Sisällön paikkamerkki 3" descr="Kuva, joka sisältää kohteen teksti, kuvakaappaus, Fontti, numero&#10;&#10;Tekoälyllä luotu sisältö saattaa olla virheellistä.">
            <a:extLst>
              <a:ext uri="{FF2B5EF4-FFF2-40B4-BE49-F238E27FC236}">
                <a16:creationId xmlns:a16="http://schemas.microsoft.com/office/drawing/2014/main" id="{1405E4C7-49F1-FA41-2272-62D7527AB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6827" y="921299"/>
            <a:ext cx="3798244" cy="2475713"/>
          </a:xfrm>
          <a:prstGeom prst="rect">
            <a:avLst/>
          </a:prstGeom>
        </p:spPr>
      </p:pic>
      <p:sp>
        <p:nvSpPr>
          <p:cNvPr id="38" name="Rectangle 16">
            <a:extLst>
              <a:ext uri="{FF2B5EF4-FFF2-40B4-BE49-F238E27FC236}">
                <a16:creationId xmlns:a16="http://schemas.microsoft.com/office/drawing/2014/main" id="{4BF9B746-725B-4EAA-AACC-E2047E073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1732"/>
            <a:ext cx="2286920" cy="2717032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8">
            <a:extLst>
              <a:ext uri="{FF2B5EF4-FFF2-40B4-BE49-F238E27FC236}">
                <a16:creationId xmlns:a16="http://schemas.microsoft.com/office/drawing/2014/main" id="{2EBFFB4A-B2E4-4737-9442-442935759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26825" y="4157448"/>
            <a:ext cx="3798245" cy="2302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uva 5" descr="Kuva, joka sisältää kohteen teksti, kuvakaappaus, numero, Fontti&#10;&#10;Tekoälyllä luotu sisältö saattaa olla virheellistä.">
            <a:extLst>
              <a:ext uri="{FF2B5EF4-FFF2-40B4-BE49-F238E27FC236}">
                <a16:creationId xmlns:a16="http://schemas.microsoft.com/office/drawing/2014/main" id="{B68C912C-1BB1-59BD-6C6D-1EA6A76F9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76" y="3232727"/>
            <a:ext cx="1896061" cy="322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8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85DD14F0-EF46-E48A-265D-B4F4E0C9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04333"/>
            <a:ext cx="4958290" cy="5249334"/>
          </a:xfrm>
        </p:spPr>
        <p:txBody>
          <a:bodyPr>
            <a:normAutofit/>
          </a:bodyPr>
          <a:lstStyle/>
          <a:p>
            <a:pPr algn="r"/>
            <a:r>
              <a:rPr lang="fi-FI">
                <a:solidFill>
                  <a:schemeClr val="bg1"/>
                </a:solidFill>
                <a:ea typeface="+mj-lt"/>
                <a:cs typeface="+mj-lt"/>
              </a:rPr>
              <a:t>Ketkä osallistuivat projektiin ja mitä he tekivät (suunnilleen)</a:t>
            </a:r>
            <a:endParaRPr lang="fi-FI">
              <a:solidFill>
                <a:schemeClr val="bg1"/>
              </a:solidFill>
            </a:endParaRPr>
          </a:p>
          <a:p>
            <a:pPr algn="r"/>
            <a:endParaRPr lang="fi-FI">
              <a:solidFill>
                <a:schemeClr val="bg1"/>
              </a:solidFill>
            </a:endParaRP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AFD9F3F-F6B9-9F95-72DB-FDC3957D1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0" y="804333"/>
            <a:ext cx="5130800" cy="52493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>
                <a:solidFill>
                  <a:srgbClr val="FFFFFF"/>
                </a:solidFill>
              </a:rPr>
              <a:t>Akseli Polojärvi - Qt, REST API, dokumentointi</a:t>
            </a:r>
          </a:p>
          <a:p>
            <a:endParaRPr lang="fi-FI">
              <a:solidFill>
                <a:srgbClr val="FFFFFF"/>
              </a:solidFill>
            </a:endParaRPr>
          </a:p>
          <a:p>
            <a:r>
              <a:rPr lang="fi-FI">
                <a:solidFill>
                  <a:srgbClr val="FFFFFF"/>
                </a:solidFill>
              </a:rPr>
              <a:t>Robert Pudas – Tietokanta (MySQL), REST API, Qt, dokumentointi</a:t>
            </a:r>
          </a:p>
          <a:p>
            <a:endParaRPr lang="fi-FI">
              <a:solidFill>
                <a:srgbClr val="FFFFFF"/>
              </a:solidFill>
            </a:endParaRPr>
          </a:p>
          <a:p>
            <a:r>
              <a:rPr lang="fi-FI">
                <a:solidFill>
                  <a:srgbClr val="FFFFFF"/>
                </a:solidFill>
              </a:rPr>
              <a:t>Tuomo Salo – Qt, dokumentointi</a:t>
            </a:r>
          </a:p>
          <a:p>
            <a:endParaRPr lang="fi-FI">
              <a:solidFill>
                <a:srgbClr val="FFFFFF"/>
              </a:solidFill>
            </a:endParaRPr>
          </a:p>
          <a:p>
            <a:r>
              <a:rPr lang="fi-FI">
                <a:solidFill>
                  <a:srgbClr val="FFFFFF"/>
                </a:solidFill>
              </a:rPr>
              <a:t>Kasperi Salmela – Qt, dokumentointi, REST API</a:t>
            </a:r>
          </a:p>
        </p:txBody>
      </p:sp>
    </p:spTree>
    <p:extLst>
      <p:ext uri="{BB962C8B-B14F-4D97-AF65-F5344CB8AC3E}">
        <p14:creationId xmlns:p14="http://schemas.microsoft.com/office/powerpoint/2010/main" val="49557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1551D78-C73B-825B-DA06-0E8EC6E1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>
                <a:solidFill>
                  <a:srgbClr val="000000"/>
                </a:solidFill>
                <a:ea typeface="+mj-lt"/>
                <a:cs typeface="+mj-lt"/>
              </a:rPr>
              <a:t>Mikä oli hyvää, mikä oli huonoa</a:t>
            </a:r>
            <a:endParaRPr lang="fi-FI"/>
          </a:p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340F654-8D97-B49A-791D-D5D0DC8D8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014"/>
            <a:ext cx="4965511" cy="44309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i-FI" sz="2800"/>
              <a:t>Hyvää: 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fi-FI" sz="2800"/>
              <a:t>   Tiimityö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fi-FI" sz="2800"/>
              <a:t>   Tehtävät jaettiin tasaisesti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fi-FI" sz="2800"/>
              <a:t>   Yhteistyö toimi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fi-FI" sz="2800"/>
              <a:t>   Toisia autettiin tarvittaessa</a:t>
            </a:r>
          </a:p>
          <a:p>
            <a:pPr>
              <a:buFont typeface="Arial" panose="020B0602020104020603" pitchFamily="34" charset="0"/>
              <a:buChar char="•"/>
            </a:pPr>
            <a:r>
              <a:rPr lang="fi-FI" sz="2800"/>
              <a:t>   Projekti pysyi aikataulussa</a:t>
            </a:r>
          </a:p>
          <a:p>
            <a:pPr>
              <a:buFont typeface="Arial" panose="020B0602020104020603" pitchFamily="34" charset="0"/>
              <a:buChar char="•"/>
            </a:pPr>
            <a:endParaRPr lang="fi-FI"/>
          </a:p>
          <a:p>
            <a:pPr>
              <a:buFont typeface="Arial" panose="020B0602020104020603" pitchFamily="34" charset="0"/>
              <a:buChar char="•"/>
            </a:pPr>
            <a:endParaRPr lang="fi-FI"/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86E296F9-B729-E192-4717-24262F093C30}"/>
              </a:ext>
            </a:extLst>
          </p:cNvPr>
          <p:cNvSpPr txBox="1"/>
          <p:nvPr/>
        </p:nvSpPr>
        <p:spPr>
          <a:xfrm>
            <a:off x="6815674" y="1769262"/>
            <a:ext cx="434667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i-FI" sz="2800"/>
              <a:t>Huonoa:</a:t>
            </a:r>
            <a:endParaRPr lang="fi-FI"/>
          </a:p>
          <a:p>
            <a:pPr marL="457200" indent="-457200">
              <a:buFont typeface="Arial"/>
              <a:buChar char="•"/>
            </a:pPr>
            <a:r>
              <a:rPr lang="fi-FI" sz="2800"/>
              <a:t>Ei tehty lisäominiasuutta</a:t>
            </a:r>
          </a:p>
          <a:p>
            <a:pPr marL="457200" indent="-457200">
              <a:buFont typeface="Arial"/>
              <a:buChar char="•"/>
            </a:pPr>
            <a:r>
              <a:rPr lang="fi-FI" sz="2800"/>
              <a:t>Koodista tuli vähän turhan pitkä</a:t>
            </a:r>
          </a:p>
          <a:p>
            <a:endParaRPr lang="fi-FI" sz="2800">
              <a:solidFill>
                <a:srgbClr val="00B0F0"/>
              </a:solidFill>
            </a:endParaRPr>
          </a:p>
          <a:p>
            <a:endParaRPr lang="fi-FI" sz="2800">
              <a:solidFill>
                <a:srgbClr val="000000"/>
              </a:solidFill>
            </a:endParaRPr>
          </a:p>
          <a:p>
            <a:endParaRPr lang="fi-FI" sz="2800">
              <a:solidFill>
                <a:srgbClr val="000000"/>
              </a:solidFill>
            </a:endParaRPr>
          </a:p>
          <a:p>
            <a:endParaRPr lang="fi-FI" sz="2800"/>
          </a:p>
        </p:txBody>
      </p:sp>
    </p:spTree>
    <p:extLst>
      <p:ext uri="{BB962C8B-B14F-4D97-AF65-F5344CB8AC3E}">
        <p14:creationId xmlns:p14="http://schemas.microsoft.com/office/powerpoint/2010/main" val="3093192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ali">
  <a:themeElements>
    <a:clrScheme name="Integraal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ali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ali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4473CD4836214996765FB676CBC9F6" ma:contentTypeVersion="8" ma:contentTypeDescription="Create a new document." ma:contentTypeScope="" ma:versionID="2876ca3b1601ceed5abe7c5590a259e4">
  <xsd:schema xmlns:xsd="http://www.w3.org/2001/XMLSchema" xmlns:xs="http://www.w3.org/2001/XMLSchema" xmlns:p="http://schemas.microsoft.com/office/2006/metadata/properties" xmlns:ns3="b0973e80-b238-4743-a38d-dfd20d9e1980" targetNamespace="http://schemas.microsoft.com/office/2006/metadata/properties" ma:root="true" ma:fieldsID="da8654afaa6e362149b5c84f3d0e70c4" ns3:_="">
    <xsd:import namespace="b0973e80-b238-4743-a38d-dfd20d9e198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973e80-b238-4743-a38d-dfd20d9e198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973e80-b238-4743-a38d-dfd20d9e1980" xsi:nil="true"/>
  </documentManagement>
</p:properties>
</file>

<file path=customXml/itemProps1.xml><?xml version="1.0" encoding="utf-8"?>
<ds:datastoreItem xmlns:ds="http://schemas.openxmlformats.org/officeDocument/2006/customXml" ds:itemID="{65582045-12F1-4025-8F12-E9BA328829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973e80-b238-4743-a38d-dfd20d9e19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0CC0F8-E930-4D96-A859-94EFBFEBD7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539747-6819-4296-B198-099B447A4C5B}">
  <ds:schemaRefs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b0973e80-b238-4743-a38d-dfd20d9e1980"/>
  </ds:schemaRefs>
</ds:datastoreItem>
</file>

<file path=docMetadata/LabelInfo.xml><?xml version="1.0" encoding="utf-8"?>
<clbl:labelList xmlns:clbl="http://schemas.microsoft.com/office/2020/mipLabelMetadata">
  <clbl:label id="{9f9ce49a-5101-4aa3-8c75-0d5935ad6525}" enabled="0" method="" siteId="{9f9ce49a-5101-4aa3-8c75-0d5935ad65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</TotalTime>
  <Words>162</Words>
  <Application>Microsoft Office PowerPoint</Application>
  <PresentationFormat>Laajakuva</PresentationFormat>
  <Paragraphs>31</Paragraphs>
  <Slides>5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5</vt:i4>
      </vt:variant>
    </vt:vector>
  </HeadingPairs>
  <TitlesOfParts>
    <vt:vector size="10" baseType="lpstr">
      <vt:lpstr>Arial</vt:lpstr>
      <vt:lpstr>Tw Cen MT</vt:lpstr>
      <vt:lpstr>Tw Cen MT Condensed</vt:lpstr>
      <vt:lpstr>Wingdings 3</vt:lpstr>
      <vt:lpstr>Integraali</vt:lpstr>
      <vt:lpstr>Pankkiautomaatti</vt:lpstr>
      <vt:lpstr>Projektin tavoitteet </vt:lpstr>
      <vt:lpstr>Tiivistelmä arvosanoille -taulukko </vt:lpstr>
      <vt:lpstr>Ketkä osallistuivat projektiin ja mitä he tekivät (suunnilleen) </vt:lpstr>
      <vt:lpstr>Mikä oli hyvää, mikä oli huonoa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Tuomo Salo</dc:creator>
  <cp:lastModifiedBy>Tuomo Salo</cp:lastModifiedBy>
  <cp:revision>12</cp:revision>
  <dcterms:created xsi:type="dcterms:W3CDTF">2026-04-20T06:40:17Z</dcterms:created>
  <dcterms:modified xsi:type="dcterms:W3CDTF">2026-04-20T07:47:10Z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0x010100504473CD4836214996765FB676CBC9F6</vt:lpwstr>
  </property>
</Properties>
</file>